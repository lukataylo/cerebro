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4" d="100"/>
          <a:sy n="114" d="100"/>
        </p:scale>
        <p:origin x="1016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173F35"/>
                </a:solidFill>
                <a:latin typeface="Menlo"/>
              </a:rPr>
              <a:t>CEREBRO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dirty="0">
                <a:solidFill>
                  <a:srgbClr val="0D0D0D"/>
                </a:solidFill>
                <a:latin typeface="Helvetica Neue"/>
              </a:rPr>
              <a:t>Triage at the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173F35"/>
                </a:solidFill>
                <a:latin typeface="Helvetica Neue"/>
              </a:rPr>
              <a:t>of email.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89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7A7A75"/>
                </a:solidFill>
                <a:latin typeface="Menlo"/>
              </a:rPr>
              <a:t>A Howden product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7A7A75"/>
                </a:solidFill>
                <a:latin typeface="Menlo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0D0D0D"/>
                </a:solidFill>
                <a:latin typeface="Helvetica Neue"/>
              </a:rPr>
              <a:t>Every referral needs a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7A7A75"/>
                </a:solidFill>
                <a:latin typeface="Helvetica Neue"/>
              </a:rPr>
              <a:t>to read, classify, and route.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4754880"/>
            <a:ext cx="10789920" cy="0"/>
          </a:xfrm>
          <a:prstGeom prst="line">
            <a:avLst/>
          </a:prstGeom>
          <a:ln w="9525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9834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0D0D0D"/>
                </a:solidFill>
                <a:latin typeface="Helvetica Neue"/>
              </a:rPr>
              <a:t>~15 minutes each. Hundreds a day. The queue never catches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173F35"/>
                </a:solidFill>
                <a:latin typeface="Menlo"/>
              </a:rPr>
              <a:t>WITH CEREBRO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0D0D0D"/>
                </a:solidFill>
                <a:latin typeface="Helvetica Neue"/>
              </a:rPr>
              <a:t>It reads the email.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0D0D0D"/>
                </a:solidFill>
                <a:latin typeface="Helvetica Neue"/>
              </a:rPr>
              <a:t>Routes the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173F35"/>
                </a:solidFill>
                <a:latin typeface="Helvetica Neue"/>
              </a:rPr>
              <a:t>In under a second.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5029200"/>
            <a:ext cx="10789920" cy="0"/>
          </a:xfrm>
          <a:prstGeom prst="line">
            <a:avLst/>
          </a:prstGeom>
          <a:ln w="9525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5257800"/>
            <a:ext cx="10972800" cy="356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GB" sz="2000" dirty="0">
                <a:solidFill>
                  <a:srgbClr val="7A7A75"/>
                </a:solidFill>
                <a:latin typeface="Helvetica Neue"/>
              </a:rPr>
              <a:t>Agent</a:t>
            </a:r>
            <a:r>
              <a:rPr sz="2000" b="0" dirty="0">
                <a:solidFill>
                  <a:srgbClr val="7A7A75"/>
                </a:solidFill>
                <a:latin typeface="Helvetica Neue"/>
              </a:rPr>
              <a:t> extracts the risk. Rules pick the platform. Brokers see the why.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7A7A75"/>
                </a:solidFill>
                <a:latin typeface="Menlo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0D0D0D"/>
                </a:solidFill>
                <a:latin typeface="Helvetica Neue"/>
              </a:rPr>
              <a:t>Three steps. Always traceable.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34542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34542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173F35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D0D0D"/>
                </a:solidFill>
                <a:latin typeface="Helvetica Neue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28142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0D0D"/>
                </a:solidFill>
                <a:latin typeface="Helvetica Neue"/>
              </a:rPr>
              <a:t>Email, slip, SOV, or pasted thread.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2814218" cy="509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GB" sz="1300" dirty="0">
                <a:solidFill>
                  <a:srgbClr val="7A7A75"/>
                </a:solidFill>
                <a:latin typeface="Helvetica Neue"/>
              </a:rPr>
              <a:t>Agent</a:t>
            </a:r>
            <a:r>
              <a:rPr sz="1300" b="0" dirty="0">
                <a:solidFill>
                  <a:srgbClr val="7A7A75"/>
                </a:solidFill>
                <a:latin typeface="Helvetica Neue"/>
              </a:rPr>
              <a:t> </a:t>
            </a:r>
            <a:r>
              <a:rPr sz="1300" b="0" dirty="0" err="1">
                <a:solidFill>
                  <a:srgbClr val="7A7A75"/>
                </a:solidFill>
                <a:latin typeface="Helvetica Neue"/>
              </a:rPr>
              <a:t>normalises</a:t>
            </a:r>
            <a:r>
              <a:rPr sz="1300" b="0" dirty="0">
                <a:solidFill>
                  <a:srgbClr val="7A7A75"/>
                </a:solidFill>
                <a:latin typeface="Helvetica Neue"/>
              </a:rPr>
              <a:t> the source into a structured submission.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2743200"/>
            <a:ext cx="34542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8738" y="3063240"/>
            <a:ext cx="34542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173F35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3429000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D0D0D"/>
                </a:solidFill>
                <a:latin typeface="Helvetica Neue"/>
              </a:rPr>
              <a:t>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8738" y="4160520"/>
            <a:ext cx="2814218" cy="583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>
                <a:solidFill>
                  <a:srgbClr val="0D0D0D"/>
                </a:solidFill>
                <a:latin typeface="Helvetica Neue"/>
              </a:rPr>
              <a:t>Extract class, </a:t>
            </a:r>
            <a:r>
              <a:rPr lang="en-GB" sz="1600" b="1" dirty="0">
                <a:solidFill>
                  <a:srgbClr val="0D0D0D"/>
                </a:solidFill>
                <a:latin typeface="Helvetica Neue"/>
              </a:rPr>
              <a:t>limits</a:t>
            </a:r>
            <a:r>
              <a:rPr sz="1600" b="1" dirty="0">
                <a:solidFill>
                  <a:srgbClr val="0D0D0D"/>
                </a:solidFill>
                <a:latin typeface="Helvetica Neue"/>
              </a:rPr>
              <a:t>, geography, losses.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8738" y="5074920"/>
            <a:ext cx="2814218" cy="509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>
                <a:solidFill>
                  <a:srgbClr val="7A7A75"/>
                </a:solidFill>
                <a:latin typeface="Helvetica Neue"/>
              </a:rPr>
              <a:t>Every field comes with a confidence score and </a:t>
            </a:r>
            <a:r>
              <a:rPr sz="1300" b="0" dirty="0" err="1">
                <a:solidFill>
                  <a:srgbClr val="7A7A75"/>
                </a:solidFill>
                <a:latin typeface="Helvetica Neue"/>
              </a:rPr>
              <a:t>sourc</a:t>
            </a:r>
            <a:r>
              <a:rPr lang="en-GB" sz="1300" b="0" dirty="0">
                <a:solidFill>
                  <a:srgbClr val="7A7A75"/>
                </a:solidFill>
                <a:latin typeface="Helvetica Neue"/>
              </a:rPr>
              <a:t>e</a:t>
            </a:r>
            <a:r>
              <a:rPr sz="1300" b="0" dirty="0">
                <a:solidFill>
                  <a:srgbClr val="7A7A75"/>
                </a:solidFill>
                <a:latin typeface="Helvetica Neue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2743200"/>
            <a:ext cx="34542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1636" y="3063240"/>
            <a:ext cx="34542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173F35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3429000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D0D0D"/>
                </a:solidFill>
                <a:latin typeface="Helvetica Neue"/>
              </a:rP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636" y="4160520"/>
            <a:ext cx="28142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0D0D"/>
                </a:solidFill>
                <a:latin typeface="Helvetica Neue"/>
              </a:rPr>
              <a:t>Nine rules. Six destinations. One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1636" y="5074920"/>
            <a:ext cx="2814218" cy="509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7A7A75"/>
                </a:solidFill>
                <a:latin typeface="Helvetica Neue"/>
              </a:rPr>
              <a:t>xTrade</a:t>
            </a:r>
            <a:r>
              <a:rPr sz="1300" b="0" dirty="0">
                <a:solidFill>
                  <a:srgbClr val="7A7A75"/>
                </a:solidFill>
                <a:latin typeface="Helvetica Neue"/>
              </a:rPr>
              <a:t>, White</a:t>
            </a:r>
            <a:r>
              <a:rPr lang="en-GB" sz="1300" b="0" dirty="0">
                <a:solidFill>
                  <a:srgbClr val="7A7A75"/>
                </a:solidFill>
                <a:latin typeface="Helvetica Neue"/>
              </a:rPr>
              <a:t>s</a:t>
            </a:r>
            <a:r>
              <a:rPr sz="1300" b="0" dirty="0">
                <a:solidFill>
                  <a:srgbClr val="7A7A75"/>
                </a:solidFill>
                <a:latin typeface="Helvetica Neue"/>
              </a:rPr>
              <a:t>pace, HAT, GXB, </a:t>
            </a:r>
            <a:r>
              <a:rPr sz="1300" b="0" dirty="0" err="1">
                <a:solidFill>
                  <a:srgbClr val="7A7A75"/>
                </a:solidFill>
                <a:latin typeface="Helvetica Neue"/>
              </a:rPr>
              <a:t>Acturis</a:t>
            </a:r>
            <a:r>
              <a:rPr sz="1300" b="0" dirty="0">
                <a:solidFill>
                  <a:srgbClr val="7A7A75"/>
                </a:solidFill>
                <a:latin typeface="Helvetica Neue"/>
              </a:rPr>
              <a:t>, or manual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7A7A75"/>
                </a:solidFill>
                <a:latin typeface="Menlo"/>
              </a:rPr>
              <a:t>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0D0D0D"/>
                </a:solidFill>
                <a:latin typeface="Helvetica Neue"/>
              </a:rPr>
              <a:t>Four things working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60320"/>
            <a:ext cx="5309463" cy="1728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880360"/>
            <a:ext cx="53094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173F35"/>
                </a:solidFill>
                <a:latin typeface="Menlo"/>
              </a:rPr>
              <a:t>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59" y="3074670"/>
            <a:ext cx="457794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0D0D0D"/>
                </a:solidFill>
                <a:latin typeface="Helvetica Neue"/>
              </a:rPr>
              <a:t>Claude reads the email.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59" y="3479292"/>
            <a:ext cx="457794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7A7A75"/>
                </a:solidFill>
                <a:latin typeface="Helvetica Neue"/>
              </a:rPr>
              <a:t>Structured fields with per-field confidence. Unsure? Flagged for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2560320"/>
            <a:ext cx="5309463" cy="1728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2191" y="2880360"/>
            <a:ext cx="53094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173F35"/>
                </a:solidFill>
                <a:latin typeface="Menlo"/>
              </a:rPr>
              <a:t>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190" y="3058333"/>
            <a:ext cx="457794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0D0D0D"/>
                </a:solidFill>
                <a:latin typeface="Helvetica Neue"/>
              </a:rPr>
              <a:t>Nine routing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3419856"/>
            <a:ext cx="457794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7A7A75"/>
                </a:solidFill>
                <a:latin typeface="Helvetica Neue"/>
              </a:rPr>
              <a:t>Sanctions gates, binder matches, class, size, loss history. Priority-ordered.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89704"/>
            <a:ext cx="5309463" cy="1728216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 w="9525">
            <a:solidFill>
              <a:srgbClr val="173F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809744"/>
            <a:ext cx="53094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C9E4CA"/>
                </a:solidFill>
                <a:latin typeface="Menlo"/>
              </a:rPr>
              <a:t>DESTINATIONS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59" y="4959728"/>
            <a:ext cx="457794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F7F6F2"/>
                </a:solidFill>
                <a:latin typeface="Helvetica Neue"/>
              </a:rPr>
              <a:t>Six placement platforms.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59" y="5417820"/>
            <a:ext cx="4779112" cy="246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 err="1">
                <a:solidFill>
                  <a:srgbClr val="C9E4CA"/>
                </a:solidFill>
                <a:latin typeface="Helvetica Neue"/>
              </a:rPr>
              <a:t>xTrade</a:t>
            </a:r>
            <a:r>
              <a:rPr sz="1300" b="0" dirty="0">
                <a:solidFill>
                  <a:srgbClr val="C9E4CA"/>
                </a:solidFill>
                <a:latin typeface="Helvetica Neue"/>
              </a:rPr>
              <a:t> · </a:t>
            </a:r>
            <a:r>
              <a:rPr sz="1300" b="0" dirty="0" err="1">
                <a:solidFill>
                  <a:srgbClr val="C9E4CA"/>
                </a:solidFill>
                <a:latin typeface="Helvetica Neue"/>
              </a:rPr>
              <a:t>WhiteSpace</a:t>
            </a:r>
            <a:r>
              <a:rPr sz="1300" b="0" dirty="0">
                <a:solidFill>
                  <a:srgbClr val="C9E4CA"/>
                </a:solidFill>
                <a:latin typeface="Helvetica Neue"/>
              </a:rPr>
              <a:t> PPL · HAT · GXB · </a:t>
            </a:r>
            <a:r>
              <a:rPr sz="1300" b="0" dirty="0" err="1">
                <a:solidFill>
                  <a:srgbClr val="C9E4CA"/>
                </a:solidFill>
                <a:latin typeface="Helvetica Neue"/>
              </a:rPr>
              <a:t>Acturis</a:t>
            </a:r>
            <a:r>
              <a:rPr sz="1300" b="0" dirty="0">
                <a:solidFill>
                  <a:srgbClr val="C9E4CA"/>
                </a:solidFill>
                <a:latin typeface="Helvetica Neue"/>
              </a:rPr>
              <a:t> · Manual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4489704"/>
            <a:ext cx="5309463" cy="1728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2191" y="4809744"/>
            <a:ext cx="53094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173F35"/>
                </a:solidFill>
                <a:latin typeface="Menlo"/>
              </a:rP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191" y="4983480"/>
            <a:ext cx="457794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0D0D0D"/>
                </a:solidFill>
                <a:latin typeface="Helvetica Neue"/>
              </a:rPr>
              <a:t>Every decision, traceable.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191" y="5349240"/>
            <a:ext cx="4767448" cy="526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7A7A75"/>
                </a:solidFill>
                <a:latin typeface="Helvetica Neue"/>
              </a:rPr>
              <a:t>Which rule fired, which didn't, why. Broker overrides feed back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7A7A75"/>
                </a:solidFill>
                <a:latin typeface="Menlo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D0D0D"/>
                </a:solidFill>
                <a:latin typeface="Helvetica Neue"/>
              </a:rPr>
              <a:t>Live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73F35"/>
                </a:solidFill>
                <a:latin typeface="Helvetica Neue"/>
              </a:rPr>
              <a:t>Preview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06240"/>
            <a:ext cx="10820095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4805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173F35"/>
                </a:solidFill>
                <a:latin typeface="Menlo"/>
              </a:rPr>
              <a:t>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D0D0D"/>
                </a:solidFill>
                <a:latin typeface="Menlo"/>
              </a:rPr>
              <a:t>lukataylo.github.io/Cerebro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7A7A75"/>
                </a:solidFill>
                <a:latin typeface="Menlo"/>
              </a:rPr>
              <a:t>Admin console · Broker workbench · Routing flow · Rules ·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265</Words>
  <Application>Microsoft Macintosh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Luka Dadiani</cp:lastModifiedBy>
  <cp:revision>2</cp:revision>
  <dcterms:created xsi:type="dcterms:W3CDTF">2013-01-27T09:14:16Z</dcterms:created>
  <dcterms:modified xsi:type="dcterms:W3CDTF">2026-04-20T14:01:51Z</dcterms:modified>
  <cp:category/>
</cp:coreProperties>
</file>